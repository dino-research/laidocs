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Candara"/>
      <p:regular r:id="rId19"/>
      <p:bold r:id="rId20"/>
      <p:italic r:id="rId21"/>
      <p:boldItalic r:id="rId22"/>
    </p:embeddedFont>
    <p:embeddedFont>
      <p:font typeface="Epilogu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rhK/8P5AiHab8AwbJ/JhYD6Zn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ndara-bold.fntdata"/><Relationship Id="rId22" Type="http://schemas.openxmlformats.org/officeDocument/2006/relationships/font" Target="fonts/Candara-boldItalic.fntdata"/><Relationship Id="rId21" Type="http://schemas.openxmlformats.org/officeDocument/2006/relationships/font" Target="fonts/Candara-italic.fntdata"/><Relationship Id="rId24" Type="http://schemas.openxmlformats.org/officeDocument/2006/relationships/font" Target="fonts/Epilogue-bold.fntdata"/><Relationship Id="rId23" Type="http://schemas.openxmlformats.org/officeDocument/2006/relationships/font" Target="fonts/Epilogu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pilogue-boldItalic.fntdata"/><Relationship Id="rId25" Type="http://schemas.openxmlformats.org/officeDocument/2006/relationships/font" Target="fonts/Epilogue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Candara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Mục tiêu: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Tự động hoá quy trình ML, giúp CD of model prediction service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Đối xứng giữa thử nghiệm và vận hành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Source code được tối ưu trong quá trình thử nghiệm, deploy vào trong quá trình vận hành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Feature store là một optional component trong level 1</a:t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ndara"/>
              <a:buNone/>
              <a:defRPr sz="6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5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5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5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6"/>
          <p:cNvSpPr txBox="1"/>
          <p:nvPr>
            <p:ph idx="1" type="body"/>
          </p:nvPr>
        </p:nvSpPr>
        <p:spPr>
          <a:xfrm>
            <a:off x="838200" y="1470212"/>
            <a:ext cx="10515600" cy="4706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66"/>
          <p:cNvSpPr txBox="1"/>
          <p:nvPr>
            <p:ph type="title"/>
          </p:nvPr>
        </p:nvSpPr>
        <p:spPr>
          <a:xfrm>
            <a:off x="838200" y="365127"/>
            <a:ext cx="10515600" cy="100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7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ndar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7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67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7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7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8"/>
          <p:cNvSpPr txBox="1"/>
          <p:nvPr>
            <p:ph type="title"/>
          </p:nvPr>
        </p:nvSpPr>
        <p:spPr>
          <a:xfrm>
            <a:off x="838200" y="365127"/>
            <a:ext cx="10515600" cy="100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6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9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9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69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9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69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/>
          <p:nvPr>
            <p:ph type="title"/>
          </p:nvPr>
        </p:nvSpPr>
        <p:spPr>
          <a:xfrm>
            <a:off x="838200" y="365127"/>
            <a:ext cx="10515600" cy="100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ndar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2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7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7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ndar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3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73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3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3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4"/>
          <p:cNvSpPr txBox="1"/>
          <p:nvPr>
            <p:ph type="title"/>
          </p:nvPr>
        </p:nvSpPr>
        <p:spPr>
          <a:xfrm>
            <a:off x="838200" y="365127"/>
            <a:ext cx="10515600" cy="100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4"/>
          <p:cNvSpPr txBox="1"/>
          <p:nvPr>
            <p:ph idx="1" type="body"/>
          </p:nvPr>
        </p:nvSpPr>
        <p:spPr>
          <a:xfrm rot="5400000">
            <a:off x="3742624" y="-1434212"/>
            <a:ext cx="470675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74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4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4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5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5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75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5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5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>
            <p:ph type="title"/>
          </p:nvPr>
        </p:nvSpPr>
        <p:spPr>
          <a:xfrm>
            <a:off x="838200" y="365127"/>
            <a:ext cx="10515600" cy="1006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ndara"/>
              <a:buNone/>
              <a:defRPr b="0" i="0" sz="39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4"/>
          <p:cNvSpPr txBox="1"/>
          <p:nvPr>
            <p:ph idx="1" type="body"/>
          </p:nvPr>
        </p:nvSpPr>
        <p:spPr>
          <a:xfrm>
            <a:off x="838200" y="1470212"/>
            <a:ext cx="10515600" cy="4706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2" name="Google Shape;12;p64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3" name="Google Shape;13;p64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64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6" name="Google Shape;86;p1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41775" y="623275"/>
            <a:ext cx="10905053" cy="5607883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8" name="Google Shape;88;p1"/>
          <p:cNvSpPr txBox="1"/>
          <p:nvPr>
            <p:ph type="ctrTitle"/>
          </p:nvPr>
        </p:nvSpPr>
        <p:spPr>
          <a:xfrm>
            <a:off x="1285241" y="1008994"/>
            <a:ext cx="9231411" cy="3542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ndara"/>
              <a:buNone/>
            </a:pPr>
            <a:r>
              <a:rPr lang="en-US" sz="6600"/>
              <a:t>Machine Learning in Production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285245" y="4582818"/>
            <a:ext cx="7132335" cy="1312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Ngo Hong Thai | Media Platform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47665"/>
            <a:ext cx="6163624" cy="1306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ndara"/>
              <a:buNone/>
            </a:pPr>
            <a:r>
              <a:rPr lang="en-US"/>
              <a:t>Element for ML systems</a:t>
            </a:r>
            <a:endParaRPr/>
          </a:p>
        </p:txBody>
      </p:sp>
      <p:pic>
        <p:nvPicPr>
          <p:cNvPr descr="ML systems is more than ML code.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1" y="1915102"/>
            <a:ext cx="10512547" cy="436270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4420799" y="6581002"/>
            <a:ext cx="79239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Source: https://cloud.google.com/architecture/mlops-continuous-delivery-and-automation-pipelines-in-machine-learning</a:t>
            </a:r>
            <a:endParaRPr sz="1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4" name="Google Shape;104;p3"/>
          <p:cNvSpPr txBox="1"/>
          <p:nvPr>
            <p:ph type="title"/>
          </p:nvPr>
        </p:nvSpPr>
        <p:spPr>
          <a:xfrm>
            <a:off x="838204" y="347665"/>
            <a:ext cx="8155329" cy="1306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ndara"/>
              <a:buNone/>
            </a:pPr>
            <a:r>
              <a:rPr lang="en-US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MLOps level 0: Manual process</a:t>
            </a:r>
            <a:endParaRPr/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1" y="2125756"/>
            <a:ext cx="10512547" cy="3889643"/>
          </a:xfrm>
          <a:prstGeom prst="rect">
            <a:avLst/>
          </a:prstGeom>
          <a:noFill/>
          <a:ln>
            <a:noFill/>
          </a:ln>
        </p:spPr>
      </p:pic>
      <p:sp>
        <p:nvSpPr>
          <p:cNvPr descr="Workflow of manual ML steps for MLOps level 0." id="106" name="Google Shape;106;p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4420799" y="6581002"/>
            <a:ext cx="79239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Source: https://cloud.google.com/architecture/mlops-continuous-delivery-and-automation-pipelines-in-machine-learning</a:t>
            </a:r>
            <a:endParaRPr sz="1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4" name="Google Shape;114;p4"/>
          <p:cNvSpPr txBox="1"/>
          <p:nvPr>
            <p:ph type="title"/>
          </p:nvPr>
        </p:nvSpPr>
        <p:spPr>
          <a:xfrm>
            <a:off x="838200" y="347665"/>
            <a:ext cx="9150752" cy="1306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ndara"/>
              <a:buNone/>
            </a:pPr>
            <a:r>
              <a:rPr lang="en-US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MLOps level 1: ML pipeline automation</a:t>
            </a: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134" y="1431239"/>
            <a:ext cx="7024540" cy="4864495"/>
          </a:xfrm>
          <a:prstGeom prst="rect">
            <a:avLst/>
          </a:prstGeom>
          <a:noFill/>
          <a:ln>
            <a:noFill/>
          </a:ln>
        </p:spPr>
      </p:pic>
      <p:sp>
        <p:nvSpPr>
          <p:cNvPr descr="Workflow of manual ML steps for MLOps level 0." id="116" name="Google Shape;116;p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4420799" y="6581002"/>
            <a:ext cx="79239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Source: https://cloud.google.com/architecture/mlops-continuous-delivery-and-automation-pipelines-in-machine-learning</a:t>
            </a:r>
            <a:endParaRPr sz="1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4" name="Google Shape;124;p5"/>
          <p:cNvSpPr txBox="1"/>
          <p:nvPr>
            <p:ph type="title"/>
          </p:nvPr>
        </p:nvSpPr>
        <p:spPr>
          <a:xfrm>
            <a:off x="1198185" y="560885"/>
            <a:ext cx="9795639" cy="11143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ndara"/>
              <a:buNone/>
            </a:pPr>
            <a:r>
              <a:rPr lang="en-US"/>
              <a:t>MLOps level 2:CI/CD pipeline automation</a:t>
            </a:r>
            <a:endParaRPr/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53" y="2236146"/>
            <a:ext cx="5730307" cy="3638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7060" y="2544251"/>
            <a:ext cx="6408189" cy="3031597"/>
          </a:xfrm>
          <a:prstGeom prst="rect">
            <a:avLst/>
          </a:prstGeom>
          <a:noFill/>
          <a:ln>
            <a:noFill/>
          </a:ln>
        </p:spPr>
      </p:pic>
      <p:sp>
        <p:nvSpPr>
          <p:cNvPr descr="Workflow of manual ML steps for MLOps level 0." id="127" name="Google Shape;127;p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4268036" y="6592023"/>
            <a:ext cx="79239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Source: https://cloud.google.com/architecture/mlops-continuous-delivery-and-automation-pipelines-in-machine-learning</a:t>
            </a:r>
            <a:endParaRPr sz="1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5" name="Google Shape;135;p6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41775" y="623275"/>
            <a:ext cx="10905053" cy="5607883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7" name="Google Shape;137;p6"/>
          <p:cNvSpPr txBox="1"/>
          <p:nvPr>
            <p:ph type="title"/>
          </p:nvPr>
        </p:nvSpPr>
        <p:spPr>
          <a:xfrm>
            <a:off x="1075767" y="1188641"/>
            <a:ext cx="3182468" cy="448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ndara"/>
              <a:buNone/>
            </a:pPr>
            <a:r>
              <a:rPr lang="en-US" sz="5400"/>
              <a:t>Table of contents</a:t>
            </a:r>
            <a:endParaRPr/>
          </a:p>
        </p:txBody>
      </p:sp>
      <p:cxnSp>
        <p:nvCxnSpPr>
          <p:cNvPr id="138" name="Google Shape;138;p6"/>
          <p:cNvCxnSpPr/>
          <p:nvPr/>
        </p:nvCxnSpPr>
        <p:spPr>
          <a:xfrm>
            <a:off x="4654296" y="1852865"/>
            <a:ext cx="0" cy="3236495"/>
          </a:xfrm>
          <a:prstGeom prst="straightConnector1">
            <a:avLst/>
          </a:prstGeom>
          <a:noFill/>
          <a:ln cap="sq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5296072" y="1446016"/>
            <a:ext cx="4702848" cy="3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5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Design</a:t>
            </a:r>
            <a:endParaRPr sz="2100"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Data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Modeling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Developing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Serving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Testing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Reproducibility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Production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Data engineering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6" name="Google Shape;146;p7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41775" y="623275"/>
            <a:ext cx="10905053" cy="5607883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8" name="Google Shape;148;p7"/>
          <p:cNvSpPr txBox="1"/>
          <p:nvPr>
            <p:ph type="title"/>
          </p:nvPr>
        </p:nvSpPr>
        <p:spPr>
          <a:xfrm>
            <a:off x="1075767" y="1188641"/>
            <a:ext cx="3182468" cy="448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ndara"/>
              <a:buNone/>
            </a:pPr>
            <a:r>
              <a:rPr lang="en-US" sz="5400"/>
              <a:t>Table of contents</a:t>
            </a:r>
            <a:endParaRPr/>
          </a:p>
        </p:txBody>
      </p:sp>
      <p:cxnSp>
        <p:nvCxnSpPr>
          <p:cNvPr id="149" name="Google Shape;149;p7"/>
          <p:cNvCxnSpPr/>
          <p:nvPr/>
        </p:nvCxnSpPr>
        <p:spPr>
          <a:xfrm>
            <a:off x="4654296" y="1852865"/>
            <a:ext cx="0" cy="3236495"/>
          </a:xfrm>
          <a:prstGeom prst="straightConnector1">
            <a:avLst/>
          </a:prstGeom>
          <a:noFill/>
          <a:ln cap="sq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" name="Google Shape;150;p7"/>
          <p:cNvSpPr txBox="1"/>
          <p:nvPr>
            <p:ph idx="1" type="body"/>
          </p:nvPr>
        </p:nvSpPr>
        <p:spPr>
          <a:xfrm>
            <a:off x="5296072" y="1446016"/>
            <a:ext cx="4702848" cy="3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5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Char char="•"/>
            </a:pPr>
            <a:r>
              <a:rPr lang="en-US" sz="2100">
                <a:solidFill>
                  <a:srgbClr val="00B050"/>
                </a:solidFill>
                <a:latin typeface="Epilogue"/>
                <a:ea typeface="Epilogue"/>
                <a:cs typeface="Epilogue"/>
                <a:sym typeface="Epilogue"/>
              </a:rPr>
              <a:t>Design</a:t>
            </a:r>
            <a:endParaRPr sz="2100">
              <a:solidFill>
                <a:srgbClr val="00B050"/>
              </a:solidFill>
            </a:endParaRPr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Data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Modeling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Developing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Serving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Testing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Reproducibility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Production</a:t>
            </a:r>
            <a:endParaRPr/>
          </a:p>
          <a:p>
            <a:pPr indent="-228594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latin typeface="Epilogue"/>
                <a:ea typeface="Epilogue"/>
                <a:cs typeface="Epilogue"/>
                <a:sym typeface="Epilogue"/>
              </a:rPr>
              <a:t>Data engineering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7" name="Google Shape;157;p8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41775" y="623275"/>
            <a:ext cx="10905053" cy="5607883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9" name="Google Shape;159;p8"/>
          <p:cNvSpPr txBox="1"/>
          <p:nvPr>
            <p:ph type="title"/>
          </p:nvPr>
        </p:nvSpPr>
        <p:spPr>
          <a:xfrm>
            <a:off x="1075767" y="1188641"/>
            <a:ext cx="3182468" cy="448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ndara"/>
              <a:buNone/>
            </a:pPr>
            <a:r>
              <a:rPr lang="en-US" sz="5400"/>
              <a:t>Table of contents</a:t>
            </a:r>
            <a:endParaRPr/>
          </a:p>
        </p:txBody>
      </p:sp>
      <p:cxnSp>
        <p:nvCxnSpPr>
          <p:cNvPr id="160" name="Google Shape;160;p8"/>
          <p:cNvCxnSpPr/>
          <p:nvPr/>
        </p:nvCxnSpPr>
        <p:spPr>
          <a:xfrm>
            <a:off x="4654296" y="1852865"/>
            <a:ext cx="0" cy="3236495"/>
          </a:xfrm>
          <a:prstGeom prst="straightConnector1">
            <a:avLst/>
          </a:prstGeom>
          <a:noFill/>
          <a:ln cap="sq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8"/>
          <p:cNvSpPr txBox="1"/>
          <p:nvPr>
            <p:ph idx="1" type="body"/>
          </p:nvPr>
        </p:nvSpPr>
        <p:spPr>
          <a:xfrm>
            <a:off x="5296072" y="1446016"/>
            <a:ext cx="4702848" cy="3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5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Char char="•"/>
            </a:pPr>
            <a:r>
              <a:rPr lang="en-US" sz="2100">
                <a:solidFill>
                  <a:srgbClr val="00B050"/>
                </a:solidFill>
                <a:latin typeface="Epilogue"/>
                <a:ea typeface="Epilogue"/>
                <a:cs typeface="Epilogue"/>
                <a:sym typeface="Epilogue"/>
              </a:rPr>
              <a:t>Design</a:t>
            </a:r>
            <a:endParaRPr/>
          </a:p>
          <a:p>
            <a:pPr indent="-228594" lvl="1" marL="68578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700"/>
              <a:buChar char="•"/>
            </a:pPr>
            <a:r>
              <a:rPr lang="en-US" sz="1700">
                <a:solidFill>
                  <a:srgbClr val="00B050"/>
                </a:solidFill>
                <a:latin typeface="Epilogue"/>
                <a:ea typeface="Epilogue"/>
                <a:cs typeface="Epilogue"/>
                <a:sym typeface="Epilogue"/>
              </a:rPr>
              <a:t>Product Management</a:t>
            </a:r>
            <a:endParaRPr/>
          </a:p>
          <a:p>
            <a:pPr indent="-228594" lvl="1" marL="68578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700"/>
              <a:buChar char="•"/>
            </a:pPr>
            <a:r>
              <a:rPr lang="en-US" sz="1700">
                <a:solidFill>
                  <a:srgbClr val="00B050"/>
                </a:solidFill>
                <a:latin typeface="Epilogue"/>
                <a:ea typeface="Epilogue"/>
                <a:cs typeface="Epilogue"/>
                <a:sym typeface="Epilogue"/>
              </a:rPr>
              <a:t>Engineering</a:t>
            </a:r>
            <a:endParaRPr/>
          </a:p>
          <a:p>
            <a:pPr indent="-228594" lvl="1" marL="68578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700"/>
              <a:buChar char="•"/>
            </a:pPr>
            <a:r>
              <a:rPr lang="en-US" sz="1700">
                <a:solidFill>
                  <a:srgbClr val="00B050"/>
                </a:solidFill>
                <a:latin typeface="Epilogue"/>
                <a:ea typeface="Epilogue"/>
                <a:cs typeface="Epilogue"/>
                <a:sym typeface="Epilogue"/>
              </a:rPr>
              <a:t>Project management</a:t>
            </a:r>
            <a:endParaRPr sz="17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68" name="Google Shape;168;p9"/>
          <p:cNvSpPr txBox="1"/>
          <p:nvPr>
            <p:ph type="title"/>
          </p:nvPr>
        </p:nvSpPr>
        <p:spPr>
          <a:xfrm>
            <a:off x="473869" y="234909"/>
            <a:ext cx="6163624" cy="1306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ndara"/>
              <a:buNone/>
            </a:pPr>
            <a:r>
              <a:rPr lang="en-US" sz="5200"/>
              <a:t>Design</a:t>
            </a:r>
            <a:endParaRPr sz="3600"/>
          </a:p>
        </p:txBody>
      </p:sp>
      <p:pic>
        <p:nvPicPr>
          <p:cNvPr descr="machine learning canvas"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193" y="2630033"/>
            <a:ext cx="6414555" cy="399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 txBox="1"/>
          <p:nvPr/>
        </p:nvSpPr>
        <p:spPr>
          <a:xfrm>
            <a:off x="544533" y="2008379"/>
            <a:ext cx="69525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Product</a:t>
            </a:r>
            <a:r>
              <a:rPr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(</a:t>
            </a:r>
            <a:r>
              <a:rPr i="1"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What &amp; Why</a:t>
            </a:r>
            <a:r>
              <a:rPr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) -&gt; </a:t>
            </a:r>
            <a:r>
              <a:rPr b="1"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Engineering</a:t>
            </a:r>
            <a:r>
              <a:rPr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(</a:t>
            </a:r>
            <a:r>
              <a:rPr i="1"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How</a:t>
            </a:r>
            <a:r>
              <a:rPr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) -&gt; </a:t>
            </a:r>
            <a:r>
              <a:rPr b="1"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Project</a:t>
            </a:r>
            <a:r>
              <a:rPr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(</a:t>
            </a:r>
            <a:r>
              <a:rPr i="1"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Who &amp; When</a:t>
            </a:r>
            <a:r>
              <a:rPr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)</a:t>
            </a:r>
            <a:endParaRPr/>
          </a:p>
        </p:txBody>
      </p:sp>
      <p:pic>
        <p:nvPicPr>
          <p:cNvPr descr="A picture containing text, screenshot, font, diagram&#10;&#10;Description automatically generated" id="171" name="Google Shape;1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6653" y="2630033"/>
            <a:ext cx="5036376" cy="256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/>
          <p:nvPr/>
        </p:nvSpPr>
        <p:spPr>
          <a:xfrm>
            <a:off x="544533" y="1323558"/>
            <a:ext cx="184601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Template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79" name="Google Shape;179;p10"/>
          <p:cNvSpPr txBox="1"/>
          <p:nvPr>
            <p:ph type="title"/>
          </p:nvPr>
        </p:nvSpPr>
        <p:spPr>
          <a:xfrm>
            <a:off x="473869" y="234909"/>
            <a:ext cx="6163624" cy="1306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ndara"/>
              <a:buNone/>
            </a:pPr>
            <a:r>
              <a:rPr lang="en-US" sz="5200"/>
              <a:t>Design</a:t>
            </a:r>
            <a:endParaRPr sz="3600"/>
          </a:p>
        </p:txBody>
      </p:sp>
      <p:sp>
        <p:nvSpPr>
          <p:cNvPr id="180" name="Google Shape;180;p10"/>
          <p:cNvSpPr txBox="1"/>
          <p:nvPr/>
        </p:nvSpPr>
        <p:spPr>
          <a:xfrm>
            <a:off x="544533" y="2008379"/>
            <a:ext cx="7755456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ndara"/>
              <a:buChar char="-"/>
            </a:pPr>
            <a:r>
              <a:rPr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Nhu cầu về sản phẩm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ndara"/>
              <a:buChar char="-"/>
            </a:pPr>
            <a:r>
              <a:rPr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Vạch ra mục tiêu &amp; các kết quả chính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ndara"/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Background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Noto Sans Symbols"/>
              <a:buChar char="▪"/>
            </a:pPr>
            <a:r>
              <a:rPr b="0" i="0" lang="en-US" sz="1800">
                <a:solidFill>
                  <a:srgbClr val="008000"/>
                </a:solidFill>
                <a:latin typeface="Epilogue"/>
                <a:ea typeface="Epilogue"/>
                <a:cs typeface="Epilogue"/>
                <a:sym typeface="Epilogue"/>
              </a:rPr>
              <a:t>customer</a:t>
            </a:r>
            <a:r>
              <a:rPr b="0" i="0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: những thứ mà khách hàng muốn giải quyết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Noto Sans Symbols"/>
              <a:buChar char="▪"/>
            </a:pPr>
            <a:r>
              <a:rPr b="0" i="0" lang="en-US" sz="1800">
                <a:solidFill>
                  <a:srgbClr val="008000"/>
                </a:solidFill>
                <a:latin typeface="Epilogue"/>
                <a:ea typeface="Epilogue"/>
                <a:cs typeface="Epilogue"/>
                <a:sym typeface="Epilogue"/>
              </a:rPr>
              <a:t>goal</a:t>
            </a:r>
            <a:r>
              <a:rPr b="0" i="0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: mục tiêu chính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Noto Sans Symbols"/>
              <a:buChar char="▪"/>
            </a:pPr>
            <a:r>
              <a:rPr b="0" i="0" lang="en-US" sz="1800">
                <a:solidFill>
                  <a:srgbClr val="008000"/>
                </a:solidFill>
                <a:latin typeface="Epilogue"/>
                <a:ea typeface="Epilogue"/>
                <a:cs typeface="Epilogue"/>
                <a:sym typeface="Epilogue"/>
              </a:rPr>
              <a:t>pains</a:t>
            </a:r>
            <a:r>
              <a:rPr b="0" i="0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: các trở ngại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008000"/>
                </a:solidFill>
                <a:latin typeface="Candara"/>
                <a:ea typeface="Candara"/>
                <a:cs typeface="Candara"/>
                <a:sym typeface="Candara"/>
              </a:rPr>
              <a:t>gains</a:t>
            </a:r>
            <a:r>
              <a:rPr b="0" i="0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: thuận lợi là gì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ndara"/>
              <a:buNone/>
            </a:pPr>
            <a:r>
              <a:t/>
            </a:r>
            <a:endParaRPr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Value proposition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Noto Sans Symbols"/>
              <a:buChar char="▪"/>
            </a:pPr>
            <a:r>
              <a:rPr b="0" i="0" lang="en-US" sz="1800">
                <a:solidFill>
                  <a:srgbClr val="008000"/>
                </a:solidFill>
                <a:latin typeface="Epilogue"/>
                <a:ea typeface="Epilogue"/>
                <a:cs typeface="Epilogue"/>
                <a:sym typeface="Epilogue"/>
              </a:rPr>
              <a:t>product</a:t>
            </a:r>
            <a:r>
              <a:rPr b="0" i="0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: Cần phải xây dựng những cái gì để giúp cho khách hàng đạt mục tiêu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Noto Sans Symbols"/>
              <a:buChar char="▪"/>
            </a:pPr>
            <a:r>
              <a:rPr b="0" i="0" lang="en-US" sz="1800">
                <a:solidFill>
                  <a:srgbClr val="008000"/>
                </a:solidFill>
                <a:latin typeface="Epilogue"/>
                <a:ea typeface="Epilogue"/>
                <a:cs typeface="Epilogue"/>
                <a:sym typeface="Epilogue"/>
              </a:rPr>
              <a:t>alleviates</a:t>
            </a:r>
            <a:r>
              <a:rPr b="0" i="0" lang="en-US" sz="1800">
                <a:solidFill>
                  <a:srgbClr val="1D2A57"/>
                </a:solidFill>
                <a:latin typeface="Arial"/>
                <a:ea typeface="Arial"/>
                <a:cs typeface="Arial"/>
                <a:sym typeface="Arial"/>
              </a:rPr>
              <a:t> /əˈliː.vi.eɪt/ </a:t>
            </a:r>
            <a:r>
              <a:rPr b="0" i="0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: Làm sao để giảm bớt khó khăn cho khách hàng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Noto Sans Symbols"/>
              <a:buChar char="▪"/>
            </a:pPr>
            <a:r>
              <a:rPr b="0" i="0" lang="en-US" sz="1800">
                <a:solidFill>
                  <a:srgbClr val="008000"/>
                </a:solidFill>
                <a:latin typeface="Epilogue"/>
                <a:ea typeface="Epilogue"/>
                <a:cs typeface="Epilogue"/>
                <a:sym typeface="Epilogue"/>
              </a:rPr>
              <a:t>advantages</a:t>
            </a:r>
            <a:r>
              <a:rPr b="0" i="0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: Sản phẩm sẽ tạo ra lợi nhuận như thế nào</a:t>
            </a:r>
            <a:endParaRPr b="1" i="0"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ndara"/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ndara"/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544533" y="1323558"/>
            <a:ext cx="666881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Product Management (What &amp; why)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88" name="Google Shape;188;p11"/>
          <p:cNvSpPr txBox="1"/>
          <p:nvPr>
            <p:ph type="title"/>
          </p:nvPr>
        </p:nvSpPr>
        <p:spPr>
          <a:xfrm>
            <a:off x="473869" y="234909"/>
            <a:ext cx="6163624" cy="1306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ndara"/>
              <a:buNone/>
            </a:pPr>
            <a:r>
              <a:rPr lang="en-US" sz="5200"/>
              <a:t>Design</a:t>
            </a:r>
            <a:endParaRPr sz="3600"/>
          </a:p>
        </p:txBody>
      </p:sp>
      <p:sp>
        <p:nvSpPr>
          <p:cNvPr id="189" name="Google Shape;189;p11"/>
          <p:cNvSpPr txBox="1"/>
          <p:nvPr/>
        </p:nvSpPr>
        <p:spPr>
          <a:xfrm>
            <a:off x="544533" y="2008379"/>
            <a:ext cx="1015156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Objectives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Char char="-"/>
            </a:pPr>
            <a:r>
              <a:rPr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Chia nhỏ product ra làm nhiều objectives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Solution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Char char="-"/>
            </a:pPr>
            <a:r>
              <a:rPr b="0" i="0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Mô tả giải pháp cần thiết để đáp ứng các objectives, các tính năng cốt lõi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ndara"/>
              <a:buNone/>
            </a:pPr>
            <a:r>
              <a:t/>
            </a:r>
            <a:endParaRPr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Feasibility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Char char="-"/>
            </a:pPr>
            <a:r>
              <a:rPr b="0" i="0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Giải pháp có tính khả thi đến mức nào? Có đủ nguồn lực cần thiết để cung cấp cho giải pháp đó không?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90" name="Google Shape;190;p11"/>
          <p:cNvSpPr txBox="1"/>
          <p:nvPr/>
        </p:nvSpPr>
        <p:spPr>
          <a:xfrm>
            <a:off x="544533" y="1323558"/>
            <a:ext cx="6668813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Product Management (What &amp; why)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97" name="Google Shape;197;p12"/>
          <p:cNvSpPr txBox="1"/>
          <p:nvPr>
            <p:ph type="title"/>
          </p:nvPr>
        </p:nvSpPr>
        <p:spPr>
          <a:xfrm>
            <a:off x="473869" y="234909"/>
            <a:ext cx="6163624" cy="1306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ndara"/>
              <a:buNone/>
            </a:pPr>
            <a:r>
              <a:rPr lang="en-US" sz="5200"/>
              <a:t>Design</a:t>
            </a:r>
            <a:endParaRPr sz="3600"/>
          </a:p>
        </p:txBody>
      </p:sp>
      <p:sp>
        <p:nvSpPr>
          <p:cNvPr id="198" name="Google Shape;198;p12"/>
          <p:cNvSpPr txBox="1"/>
          <p:nvPr/>
        </p:nvSpPr>
        <p:spPr>
          <a:xfrm>
            <a:off x="544533" y="2008379"/>
            <a:ext cx="1062983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Data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Char char="-"/>
            </a:pPr>
            <a:r>
              <a:rPr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Mô tả các nguồn data dành cho training và production.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Labeling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Char char="-"/>
            </a:pPr>
            <a:r>
              <a:rPr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Mô tả quy trình gán nhãn, làm thế nào để quyết định các đặc trưng và nhãn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Evaluation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Char char="-"/>
            </a:pPr>
            <a:r>
              <a:rPr b="0" i="0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Cần có khả năng đánh giá </a:t>
            </a:r>
            <a:r>
              <a:rPr b="1" i="0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cách</a:t>
            </a:r>
            <a:r>
              <a:rPr b="0" i="0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mà chúng ta đang thực hiện.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Char char="-"/>
            </a:pPr>
            <a:r>
              <a:rPr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Các số liệu đánh giá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Char char="-"/>
            </a:pPr>
            <a:r>
              <a:rPr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Đánh giá offline: Trên tập dữ liệu được gắn nhãn tiêu chuẩn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Char char="-"/>
            </a:pPr>
            <a:r>
              <a:rPr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Đánh giá online: Tên dữ liệu production, nhằm đảm bảo mô hình vẫn hoạt động tốt trong quá trình sản xuất.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544533" y="1323558"/>
            <a:ext cx="353814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Engineering (How)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473869" y="234909"/>
            <a:ext cx="6163624" cy="1306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ndara"/>
              <a:buNone/>
            </a:pPr>
            <a:r>
              <a:rPr lang="en-US" sz="5200"/>
              <a:t>Design</a:t>
            </a:r>
            <a:endParaRPr sz="3600"/>
          </a:p>
        </p:txBody>
      </p:sp>
      <p:sp>
        <p:nvSpPr>
          <p:cNvPr id="207" name="Google Shape;207;p13"/>
          <p:cNvSpPr txBox="1"/>
          <p:nvPr/>
        </p:nvSpPr>
        <p:spPr>
          <a:xfrm>
            <a:off x="544533" y="2008379"/>
            <a:ext cx="108833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Modeling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Thử nghiệm các cách tiếp cận, thường thường là sẽ bắt đầu dựa trên các quy tắc đơn giản và sau đó từ từ bổ sung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độ phức tạp.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544533" y="1323558"/>
            <a:ext cx="353814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Engineering (How)</a:t>
            </a:r>
            <a:endParaRPr/>
          </a:p>
        </p:txBody>
      </p:sp>
      <p:pic>
        <p:nvPicPr>
          <p:cNvPr descr="chu kỳ phát triển sản phẩm" id="209" name="Google Shape;2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046" y="3632102"/>
            <a:ext cx="6745140" cy="1902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16" name="Google Shape;216;p14"/>
          <p:cNvSpPr txBox="1"/>
          <p:nvPr>
            <p:ph type="title"/>
          </p:nvPr>
        </p:nvSpPr>
        <p:spPr>
          <a:xfrm>
            <a:off x="473869" y="234909"/>
            <a:ext cx="6163624" cy="1306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ndara"/>
              <a:buNone/>
            </a:pPr>
            <a:r>
              <a:rPr lang="en-US" sz="5200"/>
              <a:t>Design</a:t>
            </a:r>
            <a:endParaRPr sz="3600"/>
          </a:p>
        </p:txBody>
      </p:sp>
      <p:sp>
        <p:nvSpPr>
          <p:cNvPr id="217" name="Google Shape;217;p14"/>
          <p:cNvSpPr txBox="1"/>
          <p:nvPr/>
        </p:nvSpPr>
        <p:spPr>
          <a:xfrm>
            <a:off x="544533" y="2008379"/>
            <a:ext cx="10742171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Sắp xếp tất cả các product requirements vào một timelines có thể quản lý.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Team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Char char="-"/>
            </a:pPr>
            <a:r>
              <a:rPr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Các team nào, thành viên nào tham gia vào dự án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ndara"/>
              <a:buNone/>
            </a:pPr>
            <a:r>
              <a:t/>
            </a:r>
            <a:endParaRPr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Deliverables </a:t>
            </a:r>
            <a:r>
              <a:rPr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(sản phẩm bàn giao)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pilogue"/>
              <a:buChar char="-"/>
            </a:pPr>
            <a:r>
              <a:rPr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Chúng ta cần chia nhỏ các objectives cho một bản release cụ thể, để có thể clear rõ ràng những thông tin như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những người đóng góp, các yếu tố phụ thuộc, tiêu chí chấp nhận, trạng thái 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Timeline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544533" y="1323558"/>
            <a:ext cx="664156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Project Management (Who &amp; when)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2023-05-25T08:32:51Z</dcterms:created>
  <dc:creator>Hồng Thái Ngô</dc:creator>
</cp:coreProperties>
</file>